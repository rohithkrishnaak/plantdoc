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4D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2ECC71"/>
                </a:solidFill>
              </a:defRPr>
            </a:pPr>
            <a:r>
              <a:t>🌿 PlantDoc</a:t>
            </a:r>
          </a:p>
          <a:p>
            <a:pPr>
              <a:spcAft>
                <a:spcPts val="1600"/>
              </a:spcAft>
              <a:defRPr sz="3000" b="1">
                <a:solidFill>
                  <a:srgbClr val="FFFFFF"/>
                </a:solidFill>
              </a:defRPr>
            </a:pPr>
            <a:r>
              <a:t>Leaf Doctor for Real Field Photos</a:t>
            </a:r>
          </a:p>
          <a:p>
            <a:pPr>
              <a:spcAft>
                <a:spcPts val="3000"/>
              </a:spcAft>
              <a:defRPr sz="1800">
                <a:solidFill>
                  <a:srgbClr val="C8E6D7"/>
                </a:solidFill>
              </a:defRPr>
            </a:pPr>
            <a:r>
              <a:t>Honest AI Diagnosis · Fuzzy Quality Gate · Explainable Trust Engine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Track 2: Smart Agriculture &amp; CV | Problem Statement 2.2</a:t>
            </a:r>
            <a:br/>
            <a:r>
              <a:t>Presented by: Rohith Krishna A 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CC71"/>
                </a:solidFill>
              </a:defRPr>
            </a:pPr>
            <a:r>
              <a:t>NEXAI HACK 2026 · TRACK 2 (SMART AGRICULTURE)</a:t>
            </a:r>
          </a:p>
          <a:p>
            <a:pPr>
              <a:defRPr sz="2600" b="1">
                <a:solidFill>
                  <a:srgbClr val="1B4D3E"/>
                </a:solidFill>
              </a:defRPr>
            </a:pPr>
            <a:r>
              <a:t>The Real-World Challenge: Lab vs. Field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1B4D3E"/>
                </a:solidFill>
              </a:defRPr>
            </a:pPr>
            <a:r>
              <a:t>⚠️ The 'Lab-Photo' Illusion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Conventional crop classifiers achieve 99% accuracy on sterile laboratory datasets (like PlantVillage).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In real Indian farms, photos have motion blur, variable sunlight, deep shadows, and complex soil backgrounds.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When fed poor photos, standard neural networks emit high softmax confidence (e.g. 97%) on wrong diagnoses.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Misdiagnosis leads farmers to buy expensive, inappropriate pesticides, devastating crops and farm economics.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1B4D3E"/>
                </a:solidFill>
              </a:defRPr>
            </a:pPr>
            <a:r>
              <a:t>🎯 PS 2.2 Mandate &amp; Core Goal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Train on real-world noisy field images from the PlantDoc IIT dataset (CC BY 4.0).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Implement an Image Quality Gate to reject unusable photos with actionable retake instructions.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Refuse to guess: output 'Not sure, please consult an agricultural expert' when confidence is low.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Provide explainable, transparent AI that farmers and agricultural extension officers can trust.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CC71"/>
                </a:solidFill>
              </a:defRPr>
            </a:pPr>
            <a:r>
              <a:t>NEXAI HACK 2026 · TRACK 2 (SMART AGRICULTURE)</a:t>
            </a:r>
          </a:p>
          <a:p>
            <a:pPr>
              <a:defRPr sz="2600" b="1">
                <a:solidFill>
                  <a:srgbClr val="1B4D3E"/>
                </a:solidFill>
              </a:defRPr>
            </a:pPr>
            <a:r>
              <a:t>System Architecture: Quality Gate + Fuzzy Trust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1B4D3E"/>
                </a:solidFill>
              </a:defRPr>
            </a:pPr>
            <a:r>
              <a:t>1. Quality Gate (OpenCV)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Resolution normalized to 512px.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Blur: Laplacian variance + directional gradients catch defocus and motion blur.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Lighting: HSV V-channel mean catches dark shadows &amp; harsh glare.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Leaf Coverage: green tissue + adjacent lesions; bare soil is not counted as leaf.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Fuzzy Scoring: Soft transitions prevent brittle cliff-edge rejections.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1B4D3E"/>
                </a:solidFill>
              </a:defRPr>
            </a:pPr>
            <a:r>
              <a:t>2. Hybrid Classifier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CLAHE on the LAB L-channel normalises uneven field lighting.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Fuses frozen ConvNeXt-T (CNN) + DINOv2 ViT-S (Transformer) features.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Chosen from 6 backbones and 10 hybrids by grouped 5-fold CV: 66.5% vs 52.0% for EfficientNet-B0.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Rejects photos unlike any training leaf (out-of-distribution). 0.13 s per photo on CPU.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1B4D3E"/>
                </a:solidFill>
              </a:defRPr>
            </a:pPr>
            <a:r>
              <a:t>3. Mamdani Trust Engine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Inputs: Quality Score + Top-1 Softmax Confidence.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Rule Base: High confidence on poor quality is explicitly mapped to UNCERTAIN.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Defuzzification: Centroid defuzzification yields scalar Trust ∈ [0, 1].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Threshold 0.61, chosen on training cross-validation (never the test set), triggers the expert referral.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CC71"/>
                </a:solidFill>
              </a:defRPr>
            </a:pPr>
            <a:r>
              <a:t>NEXAI HACK 2026 · TRACK 2 (SMART AGRICULTURE)</a:t>
            </a:r>
          </a:p>
          <a:p>
            <a:pPr>
              <a:defRPr sz="2600" b="1">
                <a:solidFill>
                  <a:srgbClr val="1B4D3E"/>
                </a:solidFill>
              </a:defRPr>
            </a:pPr>
            <a:r>
              <a:t>Completed Stretch Goals: Explainability &amp; Farmer First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1B4D3E"/>
                </a:solidFill>
              </a:defRPr>
            </a:pPr>
            <a:r>
              <a:t>🔬 Grad-CAM Heatmaps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Computes gradients on the ConvNeXt branch of the hybrid.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Generates heatmaps highlighting infected spots and margins.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Farmers &amp; agronomists can verify the AI looked at actual lesions, not soil or background.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1B4D3E"/>
                </a:solidFill>
              </a:defRPr>
            </a:pPr>
            <a:r>
              <a:t>🌐 Multilingual UI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Full localization in English, Hindi (हिन्दी), and Tamil (தமிழ்).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Translates quality retake advice ('Hold steady', 'Move closer').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Translates disease names to vernacular farming terminology.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1B4D3E"/>
                </a:solidFill>
              </a:defRPr>
            </a:pPr>
            <a:r>
              <a:t>🌾 ICAR/TNAU Care Notes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Expert-curated organic and cultural control methods (e.g. NSKE 5%, Trichoderma).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Chemical recommendations with dosages cited from ICAR-CPRI, IIHR &amp; TNAU.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Prevents pesticide overuse.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CC71"/>
                </a:solidFill>
              </a:defRPr>
            </a:pPr>
            <a:r>
              <a:t>NEXAI HACK 2026 · TRACK 2 (SMART AGRICULTURE)</a:t>
            </a:r>
          </a:p>
          <a:p>
            <a:pPr>
              <a:defRPr sz="2600" b="1">
                <a:solidFill>
                  <a:srgbClr val="1B4D3E"/>
                </a:solidFill>
              </a:defRPr>
            </a:pPr>
            <a:r>
              <a:t>Held-Out Evaluation &amp; Coverage Curve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1B4D3E"/>
                </a:solidFill>
              </a:defRPr>
            </a:pPr>
            <a:r>
              <a:t>📊 Held-Out Test Evaluation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45 held-out PlantDoc field photos, de-duplicated against training.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Top-1: 66.7% (95% CI 51-80%) | Top-3: 97.8% (fine-tuned EfficientNet-B0: 38.5% top-1).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Quality gate passes 84.4% of real test photos.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Answered photos (trusted): 42% of photos, 89.5% correct (17/19).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Per-class F1 0.59-0.80; most common error: healthy tomato read as bacterial spot.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1B4D3E"/>
                </a:solidFill>
              </a:defRPr>
            </a:pPr>
            <a:r>
              <a:t>📈 Coverage Curve Proof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Accuracy on answered photos vs share of photos answered, across trust thresholds.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Answering everything: 66.7% correct. At our threshold: 89.5% correct on 42% of photos.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The trust engine sharply reduces confident wrong diagnoses; it does not remove them all.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Fewer wrong diagnoses means fewer wrong pesticide purchases.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CC71"/>
                </a:solidFill>
              </a:defRPr>
            </a:pPr>
            <a:r>
              <a:t>NEXAI HACK 2026 · TRACK 2 (SMART AGRICULTURE)</a:t>
            </a:r>
          </a:p>
          <a:p>
            <a:pPr>
              <a:defRPr sz="2600" b="1">
                <a:solidFill>
                  <a:srgbClr val="1B4D3E"/>
                </a:solidFill>
              </a:defRPr>
            </a:pPr>
            <a:r>
              <a:t>Data Integrity, Robustness &amp; Honest Limits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1B4D3E"/>
                </a:solidFill>
              </a:defRPr>
            </a:pPr>
            <a:r>
              <a:t>🧹 Leakage Removed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PlantDoc is internet-scraped: copies repeat.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7 test photos also sat in training: removed from test.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15 photos filed under two different diseases (31 images): removed from training.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Near-duplicates kept in the same cross-validation fold.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1B4D3E"/>
                </a:solidFill>
              </a:defRPr>
            </a:pPr>
            <a:r>
              <a:t>📷 Quality Gate Stress Test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Clean test photos, deliberately degraded: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Defocus blur 97% rejected · motion blur 79%.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Too dark 100% · glare 97% · leaf too small 100%.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Each rejection comes with the matching retake tip.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1B4D3E"/>
                </a:solidFill>
              </a:defRPr>
            </a:pPr>
            <a:r>
              <a:t>⚖️ Limitations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Small test set (45 photos): wide confidence intervals.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Internet photos, not farmer phone captures.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2 crops, 6 classes; other crops rejected as unsupported.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Says 'not sure' for ~6 in 10 photos, by design.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CC71"/>
                </a:solidFill>
              </a:defRPr>
            </a:pPr>
            <a:r>
              <a:t>NEXAI HACK 2026 · TRACK 2 (SMART AGRICULTURE)</a:t>
            </a:r>
          </a:p>
          <a:p>
            <a:pPr>
              <a:defRPr sz="2600" b="1">
                <a:solidFill>
                  <a:srgbClr val="1B4D3E"/>
                </a:solidFill>
              </a:defRPr>
            </a:pPr>
            <a:r>
              <a:t>Interactive Mobile Web App &amp; Deployment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1B4D3E"/>
                </a:solidFill>
              </a:defRPr>
            </a:pPr>
            <a:r>
              <a:t>📱 Streamlit Mobile-First UI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Live camera snapshot and instant gallery photo upload.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Real-time visual feedback on image quality and retake tips.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Expandable 'Why this result?' diagnostics tab showing fuzzy membership degrees.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Runs on standard mobile browsers; about 0.13 s model inference per photo on CPU.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1B4D3E"/>
                </a:solidFill>
              </a:defRPr>
            </a:pPr>
            <a:r>
              <a:t>🚀 Cloud Deployment Stack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Publicly accessible via Hugging Face Spaces / Streamlit Cloud.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Containerized with lightweight CPU-optimized PyTorch dependencies.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Clean .env configuration and robust offline fallback architecture.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Open-source GitHub repository with full commit history and DEV_LOG.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CC71"/>
                </a:solidFill>
              </a:defRPr>
            </a:pPr>
            <a:r>
              <a:t>NEXAI HACK 2026 · TRACK 2 (SMART AGRICULTURE)</a:t>
            </a:r>
          </a:p>
          <a:p>
            <a:pPr>
              <a:defRPr sz="2600" b="1">
                <a:solidFill>
                  <a:srgbClr val="1B4D3E"/>
                </a:solidFill>
              </a:defRPr>
            </a:pPr>
            <a:r>
              <a:t>Impact &amp; Future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1B4D3E"/>
                </a:solidFill>
              </a:defRPr>
            </a:pPr>
            <a:r>
              <a:t>🌱 Agricultural Impact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Protects Indian smallholder farmers from devastating crop disease outbreaks.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Bridges the gap between remote farmers and agricultural university experts.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Reduces unnecessary chemical fungicide spraying through targeted diagnosis.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Promotes sustainable, scientific crop protection practices.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645920"/>
            <a:ext cx="5120640" cy="4572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000"/>
              </a:spcAft>
              <a:defRPr sz="1600" b="1">
                <a:solidFill>
                  <a:srgbClr val="1B4D3E"/>
                </a:solidFill>
              </a:defRPr>
            </a:pPr>
            <a:r>
              <a:t>🔭 Next Milestones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Edge Deployment: Export to ONNX Runtime and TFLite for 100% offline field operation.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Voice Assistant: Audio advice in Hindi, Tamil, and Telugu for non-literate farmers.</a:t>
            </a:r>
          </a:p>
          <a:p>
            <a:pPr>
              <a:spcAft>
                <a:spcPts val="600"/>
              </a:spcAft>
              <a:defRPr sz="1300">
                <a:solidFill>
                  <a:srgbClr val="2C3E50"/>
                </a:solidFill>
              </a:defRPr>
            </a:pPr>
            <a:r>
              <a:t>• Pest &amp; Deficiency Expansion: Broaden taxonomy beyond fungal/bacterial leaf spot to nutrient deficiencies.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